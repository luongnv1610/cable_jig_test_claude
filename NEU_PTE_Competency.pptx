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3" r:id="rId14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E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37" y="411480"/>
            <a:ext cx="2010285" cy="777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2C39A"/>
                </a:solidFill>
                <a:latin typeface="Calibri"/>
              </a:rPr>
              <a:t>COMPANY  COMPETENCY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NEU-PMC PTE LTD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CADCDF"/>
                </a:solidFill>
                <a:latin typeface="Calibri"/>
              </a:rPr>
              <a:t>Embedded Systems · Test &amp; Measurement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FB4B8"/>
                </a:solidFill>
                <a:latin typeface="Calibri"/>
              </a:rPr>
              <a:t>Full-stack embedded system design — hardware, firmware and PC application software — with custom test, measurement and qualification tools for semiconductor and electronics manufacturing.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C9397"/>
                </a:solidFill>
                <a:latin typeface="Calibri"/>
              </a:rPr>
              <a:t>Company capability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SmartDAC Does</a:t>
            </a:r>
          </a:p>
        </p:txBody>
      </p:sp>
      <p:pic>
        <p:nvPicPr>
          <p:cNvPr id="4" name="Picture 3" descr="n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11558"/>
            <a:ext cx="1554480" cy="601011"/>
          </a:xfrm>
          <a:prstGeom prst="rect">
            <a:avLst/>
          </a:prstGeom>
        </p:spPr>
      </p:pic>
      <p:pic>
        <p:nvPicPr>
          <p:cNvPr id="5" name="Picture 4" descr="smartdac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04949"/>
            <a:ext cx="6035040" cy="33796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617220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A6E"/>
                </a:solidFill>
                <a:latin typeface="Calibri"/>
              </a:rPr>
              <a:t>Annotated JESD22-A104 profile — real 9-channel FX1000 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A2E"/>
                </a:solidFill>
                <a:latin typeface="Calibri"/>
              </a:rPr>
              <a:t>Reads FX1000 logs natively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6A6E"/>
                </a:solidFill>
                <a:latin typeface="Calibri"/>
              </a:rPr>
              <a:t>Yokogawa binary .DAD and converted .xlsx; multi-file auto-merge; 9+ thermocouple channels.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13432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95144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A2E"/>
                </a:solidFill>
                <a:latin typeface="Calibri"/>
              </a:rPr>
              <a:t>JESD22-A104 profiling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6A6E"/>
                </a:solidFill>
                <a:latin typeface="Calibri"/>
              </a:rPr>
              <a:t>Soak windows, 10–90% ramp rate, cycle time, peak-to-trough and hot/cold extremes — all annotated.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55264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36976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A2E"/>
                </a:solidFill>
                <a:latin typeface="Calibri"/>
              </a:rPr>
              <a:t>One-click 9-point report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6A6E"/>
                </a:solidFill>
                <a:latin typeface="Calibri"/>
              </a:rPr>
              <a:t>Per-channel metrics with Pass/Fail against configurable acceptance limits.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97096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78808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A2E"/>
                </a:solidFill>
                <a:latin typeface="Calibri"/>
              </a:rPr>
              <a:t>Interactive Measure tool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6A6E"/>
                </a:solidFill>
                <a:latin typeface="Calibri"/>
              </a:rPr>
              <a:t>Δtime, Δtemp, ramp rate (°C/min), region min/max/mean, multi-channel cursor.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38928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02A2E"/>
                </a:solidFill>
                <a:latin typeface="Calibri"/>
              </a:rPr>
              <a:t>Audit-ready Excel export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A6A6E"/>
                </a:solidFill>
                <a:latin typeface="Calibri"/>
              </a:rPr>
              <a:t>Standardized, reproducible deliverable for qualification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412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Standardized  ·  Accurate  ·  Fast</a:t>
            </a:r>
          </a:p>
        </p:txBody>
      </p:sp>
      <p:pic>
        <p:nvPicPr>
          <p:cNvPr id="4" name="Picture 3" descr="ne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11558"/>
            <a:ext cx="1554480" cy="601011"/>
          </a:xfrm>
          <a:prstGeom prst="rect">
            <a:avLst/>
          </a:prstGeom>
        </p:spPr>
      </p:pic>
      <p:pic>
        <p:nvPicPr>
          <p:cNvPr id="5" name="Picture 4" descr="smartdac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365" y="1280160"/>
            <a:ext cx="744279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800600"/>
            <a:ext cx="2697480" cy="1417320"/>
          </a:xfrm>
          <a:prstGeom prst="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46904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7C8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A6E"/>
                </a:solidFill>
                <a:latin typeface="Calibri"/>
              </a:rPr>
              <a:t>sensor points /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4800600"/>
            <a:ext cx="2697480" cy="1417320"/>
          </a:xfrm>
          <a:prstGeom prst="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4946904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7C8A"/>
                </a:solidFill>
                <a:latin typeface="Calibri"/>
              </a:rPr>
              <a:t>1-click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56692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A6E"/>
                </a:solidFill>
                <a:latin typeface="Calibri"/>
              </a:rPr>
              <a:t>raw log →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4800600"/>
            <a:ext cx="2697480" cy="1417320"/>
          </a:xfrm>
          <a:prstGeom prst="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4946904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7C8A"/>
                </a:solidFill>
                <a:latin typeface="Calibri"/>
              </a:rPr>
              <a:t>.DAD + .xlsx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56692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A6E"/>
                </a:solidFill>
                <a:latin typeface="Calibri"/>
              </a:rPr>
              <a:t>native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4800600"/>
            <a:ext cx="2697480" cy="1417320"/>
          </a:xfrm>
          <a:prstGeom prst="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0264" y="4946904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7C8A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4" y="566928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A6E"/>
                </a:solidFill>
                <a:latin typeface="Calibri"/>
              </a:rPr>
              <a:t>measurement 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202A2E"/>
                </a:solidFill>
                <a:latin typeface="Calibri"/>
              </a:rPr>
              <a:t>From raw thermal-chamber logs to a signed-off, JESD22-A104-compliant report in minutes — consistent across every engineer and every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Cable Jig Tester — Hardware Design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56032"/>
            <a:ext cx="1554480" cy="601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Custom PCB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Multi-layer schematic capture and layout for a compact, production-ready test 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59152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22576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High-density test fixture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116-pin dual pogo-pin jig (J1/J2, rows A–G) for reliable, repeatable contact.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00984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64408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Power &amp; signal integrity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Clean scanning paths and a regulated supply for stable, low-noise measurements.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42816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Matrix scanning architecture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Any-to-any pin coverage engineered for fast, complete continuity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84648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48072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Manufacturing-ready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DFM-conscious layout with status indicators, controls and a single-cable PC link.</a:t>
            </a:r>
          </a:p>
        </p:txBody>
      </p:sp>
      <p:pic>
        <p:nvPicPr>
          <p:cNvPr id="15" name="Picture 14" descr="h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678831"/>
            <a:ext cx="5989320" cy="20489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4855824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>
                <a:solidFill>
                  <a:srgbClr val="5A6A6E"/>
                </a:solidFill>
                <a:latin typeface="Calibri"/>
              </a:rPr>
              <a:t>Hardware architecture — PC ↔ controller ↔ scanning matrix ↔ J1/J2 fixture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Cable Jig Tester — Firmware Development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56032"/>
            <a:ext cx="1554480" cy="601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Embedded C firmware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Bare-metal microcontroller firmware driving the entire test sequence.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59152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22576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Real-time pin-scan engine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Deterministic full-matrix scanning of every J1↔J2 pin pair.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00984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64408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Host command protocol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Lightweight serial protocol for test control, serial numbers and versioning.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42816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On-board self-diagnostics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Built-in jig diagnostics isolate a fault to a pin, trace or contact.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84648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48072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Robust &amp; production-ready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Reliable low-level drivers and error handling for continuous line use.</a:t>
            </a:r>
          </a:p>
        </p:txBody>
      </p:sp>
      <p:pic>
        <p:nvPicPr>
          <p:cNvPr id="15" name="Picture 14" descr="f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099134"/>
            <a:ext cx="5989320" cy="12083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4435521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>
                <a:solidFill>
                  <a:srgbClr val="5A6A6E"/>
                </a:solidFill>
                <a:latin typeface="Calibri"/>
              </a:rPr>
              <a:t>Firmware sequence — self-test → command → scan → stream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Cable Jig Tester — PC Application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56032"/>
            <a:ext cx="1554480" cy="601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Desktop test application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Live pass/fail view with per-pin status and auto serial-number increment.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59152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22576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Cable profiles — learn any cable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Save a golden netlist per cable type; auto-detects signal pairs and GND bus.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00984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64408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Orientation-independent testing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Passes whether the cable is inserted A→B or reversed B→A.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42816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Raw capture mode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Inspect an unknown cable's netlist, auto-grouped by electrical net.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84648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48072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Template reports + one-click EXE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Audit-ready Excel reports (four sheets); packaged standalone build.</a:t>
            </a:r>
          </a:p>
        </p:txBody>
      </p:sp>
      <p:pic>
        <p:nvPicPr>
          <p:cNvPr id="15" name="Picture 14" descr="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499173"/>
            <a:ext cx="5989320" cy="240829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9320" y="5035482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>
                <a:solidFill>
                  <a:srgbClr val="5A6A6E"/>
                </a:solidFill>
                <a:latin typeface="Calibri"/>
              </a:rPr>
              <a:t>One-click PASS/FAIL report — template layout, four sheets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326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FFFFFF"/>
                </a:solidFill>
                <a:latin typeface="Calibri"/>
              </a:rPr>
              <a:t>Cable Jig Tester — Full-Stack Embedded System Design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56032"/>
            <a:ext cx="1554480" cy="601011"/>
          </a:xfrm>
          <a:prstGeom prst="rect">
            <a:avLst/>
          </a:prstGeom>
        </p:spPr>
      </p:pic>
      <p:pic>
        <p:nvPicPr>
          <p:cNvPr id="5" name="Picture 4" descr="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1371600"/>
            <a:ext cx="7955279" cy="27774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800600"/>
            <a:ext cx="2697480" cy="141732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0E7C8A"/>
                </a:solidFill>
                <a:latin typeface="Calibri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4243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>
                <a:solidFill>
                  <a:srgbClr val="5A6A6E"/>
                </a:solidFill>
                <a:latin typeface="Calibri"/>
              </a:rPr>
              <a:t>PCB · fixture · 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800600"/>
            <a:ext cx="2697480" cy="141732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4983480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0E7C8A"/>
                </a:solidFill>
                <a:latin typeface="Calibri"/>
              </a:rPr>
              <a:t>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574243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>
                <a:solidFill>
                  <a:srgbClr val="5A6A6E"/>
                </a:solidFill>
                <a:latin typeface="Calibri"/>
              </a:rPr>
              <a:t>embedded C · real-time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4800600"/>
            <a:ext cx="2697480" cy="141732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4983480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0E7C8A"/>
                </a:solidFill>
                <a:latin typeface="Calibri"/>
              </a:rPr>
              <a:t>PC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574243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>
                <a:solidFill>
                  <a:srgbClr val="5A6A6E"/>
                </a:solidFill>
                <a:latin typeface="Calibri"/>
              </a:rPr>
              <a:t>Python · profiles ·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4800600"/>
            <a:ext cx="2697480" cy="141732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0264" y="4983480"/>
            <a:ext cx="2697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>
                <a:solidFill>
                  <a:srgbClr val="0E7C8A"/>
                </a:solidFill>
                <a:latin typeface="Calibri"/>
              </a:rPr>
              <a:t>Full-stack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0264" y="574243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0">
                <a:solidFill>
                  <a:srgbClr val="5A6A6E"/>
                </a:solidFill>
                <a:latin typeface="Calibri"/>
              </a:rPr>
              <a:t>one team, end-to-end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>
                <a:solidFill>
                  <a:srgbClr val="202A2E"/>
                </a:solidFill>
                <a:latin typeface="Calibri"/>
              </a:rPr>
              <a:t>One workflow from board and firmware to the PC application and the signed-off report — designed, built and validated in-house.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What NEU-PMC PTE LTD Does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56032"/>
            <a:ext cx="1554480" cy="601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417320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0744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Full-stack embedded systems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Hardware, firmware and PC software — designed, built and validated by one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59152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22576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Hardware &amp; PCB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Multi-layer schematic capture, layout and test-fixture design, manufacturing-ready.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00984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64408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Firmware development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Real-time embedded C for measurement, control and instrument communication.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42816"/>
            <a:ext cx="146304" cy="8229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PC &amp; desktop applications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Data-acquisition, analysis and reporting tools with audit-ready outputs.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84648"/>
            <a:ext cx="146304" cy="82296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48072"/>
            <a:ext cx="4892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02A2E"/>
                </a:solidFill>
                <a:latin typeface="Calibri"/>
              </a:rPr>
              <a:t>Test, measurement &amp; qualification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A6A6E"/>
                </a:solidFill>
                <a:latin typeface="Calibri"/>
              </a:rPr>
              <a:t>Custom instruments and software for semiconductor / electronics QA.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0E7C8A"/>
                </a:solidFill>
                <a:latin typeface="Calibri"/>
              </a:rPr>
              <a:t>Flagship solutions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965960"/>
            <a:ext cx="5303520" cy="1600200"/>
          </a:xfrm>
          <a:prstGeom prst="roundRect">
            <a:avLst/>
          </a:prstGeom>
          <a:solidFill>
            <a:srgbClr val="EA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19456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E7C8A"/>
                </a:solidFill>
                <a:latin typeface="Calibri"/>
              </a:rPr>
              <a:t>SmartDAC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A6E"/>
                </a:solidFill>
                <a:latin typeface="Calibri"/>
              </a:rPr>
              <a:t>Thermal-cycle data analysis software — JESD22-A104 profiling and one-click 9-point qualification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94760"/>
            <a:ext cx="5303520" cy="1600200"/>
          </a:xfrm>
          <a:prstGeom prst="roundRect">
            <a:avLst/>
          </a:prstGeom>
          <a:solidFill>
            <a:srgbClr val="E0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2336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E7C8A"/>
                </a:solidFill>
                <a:latin typeface="Calibri"/>
              </a:rPr>
              <a:t>Cable Jig Tester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A6E"/>
                </a:solidFill>
                <a:latin typeface="Calibri"/>
              </a:rPr>
              <a:t>116-pin cable continuity test system — full-stack embedded design with audit-ready Excel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623560"/>
            <a:ext cx="5303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202A2E"/>
                </a:solidFill>
                <a:latin typeface="Calibri"/>
              </a:rPr>
              <a:t>One team delivering hardware, firmware and software — from concept to a validated, production-ready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